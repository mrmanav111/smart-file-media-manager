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685800"/>
            <a:ext cx="82296" cy="502920"/>
          </a:xfrm>
          <a:prstGeom prst="rect">
            <a:avLst/>
          </a:prstGeom>
          <a:solidFill>
            <a:srgbClr val="38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640080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6F9FD"/>
                </a:solidFill>
                <a:latin typeface="Aptos Display"/>
              </a:defRPr>
            </a:pPr>
            <a:r>
              <a:t>SMART FILE &amp; MEDIA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Advanced Programming — Assessment 2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Task 15: Technical documentation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59BB1"/>
                </a:solidFill>
              </a:defRPr>
            </a:pPr>
            <a:r>
              <a:t>ASSESSMENT 2  •  TASK 15                                      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685800"/>
            <a:ext cx="82296" cy="502920"/>
          </a:xfrm>
          <a:prstGeom prst="rect">
            <a:avLst/>
          </a:prstGeom>
          <a:solidFill>
            <a:srgbClr val="38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640080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6F9FD"/>
                </a:solidFill>
                <a:latin typeface="Aptos Display"/>
              </a:defRPr>
            </a:pPr>
            <a:r>
              <a:t>THE PROBLEM AND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One interface for folder scanning and browsing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Search, filter, image preview, MP3 playback and CSV export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Background processing keeps the window responsive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59BB1"/>
                </a:solidFill>
              </a:defRPr>
            </a:pPr>
            <a:r>
              <a:t>ASSESSMENT 2  •  TASK 15                                      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685800"/>
            <a:ext cx="82296" cy="502920"/>
          </a:xfrm>
          <a:prstGeom prst="rect">
            <a:avLst/>
          </a:prstGeom>
          <a:solidFill>
            <a:srgbClr val="38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640080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6F9FD"/>
                </a:solidFill>
                <a:latin typeface="Aptos Display"/>
              </a:defRPr>
            </a:pPr>
            <a:r>
              <a:t>SYSTEM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000">
                <a:solidFill>
                  <a:srgbClr val="DDE6ED"/>
                </a:solidFill>
                <a:latin typeface="Aptos"/>
              </a:defRPr>
            </a:pPr>
            <a:r>
              <a:t>•  main.py — application entry</a:t>
            </a:r>
          </a:p>
          <a:p>
            <a:pPr>
              <a:spcAft>
                <a:spcPts val="2100"/>
              </a:spcAft>
              <a:defRPr sz="2000">
                <a:solidFill>
                  <a:srgbClr val="DDE6ED"/>
                </a:solidFill>
                <a:latin typeface="Aptos"/>
              </a:defRPr>
            </a:pPr>
            <a:r>
              <a:t>•  main_window.py — view and user interaction</a:t>
            </a:r>
          </a:p>
          <a:p>
            <a:pPr>
              <a:spcAft>
                <a:spcPts val="2100"/>
              </a:spcAft>
              <a:defRPr sz="2000">
                <a:solidFill>
                  <a:srgbClr val="DDE6ED"/>
                </a:solidFill>
                <a:latin typeface="Aptos"/>
              </a:defRPr>
            </a:pPr>
            <a:r>
              <a:t>•  controller.py — application coordination</a:t>
            </a:r>
          </a:p>
          <a:p>
            <a:pPr>
              <a:spcAft>
                <a:spcPts val="2100"/>
              </a:spcAft>
              <a:defRPr sz="2000">
                <a:solidFill>
                  <a:srgbClr val="DDE6ED"/>
                </a:solidFill>
                <a:latin typeface="Aptos"/>
              </a:defRPr>
            </a:pPr>
            <a:r>
              <a:t>•  file_model.py — scanning and file logic</a:t>
            </a:r>
          </a:p>
          <a:p>
            <a:pPr>
              <a:spcAft>
                <a:spcPts val="2100"/>
              </a:spcAft>
              <a:defRPr sz="2000">
                <a:solidFill>
                  <a:srgbClr val="DDE6ED"/>
                </a:solidFill>
                <a:latin typeface="Aptos"/>
              </a:defRPr>
            </a:pPr>
            <a:r>
              <a:t>•  workers.py — background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59BB1"/>
                </a:solidFill>
              </a:defRPr>
            </a:pPr>
            <a:r>
              <a:t>ASSESSMENT 2  •  TASK 15                                      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685800"/>
            <a:ext cx="82296" cy="502920"/>
          </a:xfrm>
          <a:prstGeom prst="rect">
            <a:avLst/>
          </a:prstGeom>
          <a:solidFill>
            <a:srgbClr val="38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640080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6F9FD"/>
                </a:solidFill>
                <a:latin typeface="Aptos Display"/>
              </a:defRPr>
            </a:pPr>
            <a:r>
              <a:t>INTERFACE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Clear folder/scan/cancel/export actions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Search and type filter beside the results table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Dedicated preview panel, status and progress feedback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Demonstration: scan, search, preview,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59BB1"/>
                </a:solidFill>
              </a:defRPr>
            </a:pPr>
            <a:r>
              <a:t>ASSESSMENT 2  •  TASK 15                                      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685800"/>
            <a:ext cx="82296" cy="502920"/>
          </a:xfrm>
          <a:prstGeom prst="rect">
            <a:avLst/>
          </a:prstGeom>
          <a:solidFill>
            <a:srgbClr val="38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640080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6F9FD"/>
                </a:solidFill>
                <a:latin typeface="Aptos Display"/>
              </a:defRPr>
            </a:pPr>
            <a:r>
              <a:t>CONCURRENCY AND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Folder scanning runs off the GUI event loop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Workers communicate progress/results through Qt signals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UI updates belong on the main GUI thread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Cancellation is handled cooperatively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59BB1"/>
                </a:solidFill>
              </a:defRPr>
            </a:pPr>
            <a:r>
              <a:t>ASSESSMENT 2  •  TASK 15                                      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685800"/>
            <a:ext cx="82296" cy="502920"/>
          </a:xfrm>
          <a:prstGeom prst="rect">
            <a:avLst/>
          </a:prstGeom>
          <a:solidFill>
            <a:srgbClr val="38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640080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6F9FD"/>
                </a:solidFill>
                <a:latin typeface="Aptos Display"/>
              </a:defRPr>
            </a:pPr>
            <a:r>
              <a:t>PERFORMANCE: ACTUAL VS THEORETICAL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000">
                <a:solidFill>
                  <a:srgbClr val="DDE6ED"/>
                </a:solidFill>
                <a:latin typeface="Aptos"/>
              </a:defRPr>
            </a:pPr>
            <a:r>
              <a:t>•  350 files • 4 workers • 3 runs</a:t>
            </a:r>
          </a:p>
          <a:p>
            <a:pPr>
              <a:spcAft>
                <a:spcPts val="2100"/>
              </a:spcAft>
              <a:defRPr sz="2000">
                <a:solidFill>
                  <a:srgbClr val="DDE6ED"/>
                </a:solidFill>
                <a:latin typeface="Aptos"/>
              </a:defRPr>
            </a:pPr>
            <a:r>
              <a:t>•  Sequential average: 0.0181 seconds</a:t>
            </a:r>
          </a:p>
          <a:p>
            <a:pPr>
              <a:spcAft>
                <a:spcPts val="2100"/>
              </a:spcAft>
              <a:defRPr sz="2000">
                <a:solidFill>
                  <a:srgbClr val="DDE6ED"/>
                </a:solidFill>
                <a:latin typeface="Aptos"/>
              </a:defRPr>
            </a:pPr>
            <a:r>
              <a:t>•  Threaded average: 0.0224 seconds</a:t>
            </a:r>
          </a:p>
          <a:p>
            <a:pPr>
              <a:spcAft>
                <a:spcPts val="2100"/>
              </a:spcAft>
              <a:defRPr sz="2000">
                <a:solidFill>
                  <a:srgbClr val="DDE6ED"/>
                </a:solidFill>
                <a:latin typeface="Aptos"/>
              </a:defRPr>
            </a:pPr>
            <a:r>
              <a:t>•  Measured speed-up: 0.81× (slower)</a:t>
            </a:r>
          </a:p>
          <a:p>
            <a:pPr>
              <a:spcAft>
                <a:spcPts val="2100"/>
              </a:spcAft>
              <a:defRPr sz="2000">
                <a:solidFill>
                  <a:srgbClr val="DDE6ED"/>
                </a:solidFill>
                <a:latin typeface="Aptos"/>
              </a:defRPr>
            </a:pPr>
            <a:r>
              <a:t>•  Amdahl theoretical result (80% parallel): 2.50×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59BB1"/>
                </a:solidFill>
              </a:defRPr>
            </a:pPr>
            <a:r>
              <a:t>ASSESSMENT 2  •  TASK 15                                      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685800"/>
            <a:ext cx="82296" cy="502920"/>
          </a:xfrm>
          <a:prstGeom prst="rect">
            <a:avLst/>
          </a:prstGeom>
          <a:solidFill>
            <a:srgbClr val="38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640080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6F9FD"/>
                </a:solidFill>
                <a:latin typeface="Aptos Display"/>
              </a:defRPr>
            </a:pPr>
            <a:r>
              <a:t>TESTING AND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10 manual checks reported passed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6 unittest cases passed (~0.043 s)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8 packaged-EXE checks passed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Test discovery issue corrected by using tests/ and explicit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59BB1"/>
                </a:solidFill>
              </a:defRPr>
            </a:pPr>
            <a:r>
              <a:t>ASSESSMENT 2  •  TASK 15                                      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685800"/>
            <a:ext cx="82296" cy="502920"/>
          </a:xfrm>
          <a:prstGeom prst="rect">
            <a:avLst/>
          </a:prstGeom>
          <a:solidFill>
            <a:srgbClr val="38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640080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6F9FD"/>
                </a:solidFill>
                <a:latin typeface="Aptos Display"/>
              </a:defRPr>
            </a:pPr>
            <a:r>
              <a:t>GIT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Feature branch + meaningful commit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GitHub Pull Request #1 merged into main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Controlled conflict edited on both branches and resolved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Conflict merge: ee14932 • Distribution commit: 6032498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59BB1"/>
                </a:solidFill>
              </a:defRPr>
            </a:pPr>
            <a:r>
              <a:t>ASSESSMENT 2  •  TASK 15                                      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685800"/>
            <a:ext cx="82296" cy="502920"/>
          </a:xfrm>
          <a:prstGeom prst="rect">
            <a:avLst/>
          </a:prstGeom>
          <a:solidFill>
            <a:srgbClr val="38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640080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6F9FD"/>
                </a:solidFill>
                <a:latin typeface="Aptos Display"/>
              </a:defRPr>
            </a:pPr>
            <a:r>
              <a:t>WINDOWS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PyInstaller 6.22.3 • Python 3.13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One-folder Windows build (.exe + _internal)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Packaged app opened and passed 8 local checks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ZIP + DISTRIBUTION.md + .spec prepared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59BB1"/>
                </a:solidFill>
              </a:defRPr>
            </a:pPr>
            <a:r>
              <a:t>ASSESSMENT 2  •  TASK 15                                      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685800"/>
            <a:ext cx="82296" cy="502920"/>
          </a:xfrm>
          <a:prstGeom prst="rect">
            <a:avLst/>
          </a:prstGeom>
          <a:solidFill>
            <a:srgbClr val="38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640080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6F9FD"/>
                </a:solidFill>
                <a:latin typeface="Aptos Display"/>
              </a:defRPr>
            </a:pPr>
            <a:r>
              <a:t>EVALUATION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Strengths: usable UI, responsive scanning, tests, repeatable build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Limits: small performance sample; threading slower on this workload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Further work: larger datasets, GUI automation, second-PC distribution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59BB1"/>
                </a:solidFill>
              </a:defRPr>
            </a:pPr>
            <a:r>
              <a:t>ASSESSMENT 2  •  TASK 15                                     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685800"/>
            <a:ext cx="82296" cy="502920"/>
          </a:xfrm>
          <a:prstGeom prst="rect">
            <a:avLst/>
          </a:prstGeom>
          <a:solidFill>
            <a:srgbClr val="38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640080"/>
            <a:ext cx="10652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6F9FD"/>
                </a:solidFill>
                <a:latin typeface="Aptos Display"/>
              </a:defRPr>
            </a:pPr>
            <a:r>
              <a:t>LIVE DEMO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Select folder → scan → search/filter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Preview image → play MP3 → export CSV → cancel/restart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Show tests, performance, PR and executable</a:t>
            </a:r>
          </a:p>
          <a:p>
            <a:pPr>
              <a:spcAft>
                <a:spcPts val="2100"/>
              </a:spcAft>
              <a:defRPr sz="2200">
                <a:solidFill>
                  <a:srgbClr val="DDE6ED"/>
                </a:solidFill>
                <a:latin typeface="Aptos"/>
              </a:defRPr>
            </a:pPr>
            <a:r>
              <a:t>• 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46520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59BB1"/>
                </a:solidFill>
              </a:defRPr>
            </a:pPr>
            <a:r>
              <a:t>ASSESSMENT 2  •  TASK 15                                     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